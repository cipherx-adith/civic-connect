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64748B"/>
                </a:solidFill>
                <a:latin typeface="Plus Jakarta Sans"/>
              </a:defRPr>
            </a:pPr>
            <a:r>
              <a:t>WEB PROGRAMMING MICROPROJECT PRESENTATION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31375" y="320040"/>
            <a:ext cx="1828800" cy="36576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59669"/>
                </a:solidFill>
                <a:latin typeface="Plus Jakarta Sans"/>
              </a:defRPr>
            </a:pPr>
            <a:r>
              <a:t>GROUP NO. 01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05840"/>
            <a:ext cx="1371600" cy="1371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240280" y="1005840"/>
            <a:ext cx="8961120" cy="1463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3600" b="1">
                <a:solidFill>
                  <a:srgbClr val="0F172A"/>
                </a:solidFill>
                <a:latin typeface="Plus Jakarta Sans"/>
              </a:rPr>
              <a:t>Civic</a:t>
            </a:r>
            <a:r>
              <a:rPr sz="3600" b="1">
                <a:solidFill>
                  <a:srgbClr val="059669"/>
                </a:solidFill>
                <a:latin typeface="Plus Jakarta Sans"/>
              </a:rPr>
              <a:t>Connect</a:t>
            </a:r>
          </a:p>
          <a:p>
            <a:pPr>
              <a:defRPr sz="1200" b="1">
                <a:solidFill>
                  <a:srgbClr val="2563EB"/>
                </a:solidFill>
                <a:latin typeface="Plus Jakarta Sans"/>
              </a:defRPr>
            </a:pPr>
            <a:r>
              <a:t>CLEANER COMMUNITIES. STRONGER TOMORROW.</a:t>
            </a:r>
          </a:p>
          <a:p>
            <a:pPr>
              <a:defRPr sz="1150">
                <a:solidFill>
                  <a:srgbClr val="64748B"/>
                </a:solidFill>
                <a:latin typeface="Plus Jakarta Sans"/>
              </a:defRPr>
            </a:pPr>
            <a:r>
              <a:t>A smart, transparent public issue reporting &amp; municipal governance portal bridging citizens with city departments for real-time tracking, geotagged evidence dispatching, and automated SLA accountability.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51760"/>
            <a:ext cx="3429000" cy="219456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 bIns="201168"/>
          <a:lstStyle/>
          <a:p>
            <a:pPr algn="ctr">
              <a:defRPr sz="1300" b="1">
                <a:solidFill>
                  <a:srgbClr val="059669"/>
                </a:solidFill>
                <a:latin typeface="Plus Jakarta Sans"/>
              </a:defRPr>
            </a:pPr>
            <a:r>
              <a:t>Citizen Geo-Reporting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Plus Jakarta Sans"/>
              </a:defRPr>
            </a:pPr>
            <a:r>
              <a:t>Interactive Leaflet.js GPS map picker, photo evidence upload, 4-step streamlined grievance submission, and live status timeline.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9976" y="2651760"/>
            <a:ext cx="3429000" cy="219456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 bIns="201168"/>
          <a:lstStyle/>
          <a:p>
            <a:pPr algn="ctr">
              <a:defRPr sz="1300" b="1">
                <a:solidFill>
                  <a:srgbClr val="2563EB"/>
                </a:solidFill>
                <a:latin typeface="Plus Jakarta Sans"/>
              </a:defRPr>
            </a:pPr>
            <a:r>
              <a:t>Department Dispatch Queue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Plus Jakarta Sans"/>
              </a:defRPr>
            </a:pPr>
            <a:r>
              <a:t>Department-specific worklists (PWD, SWM, Water, Electrical), urgency escalation, nodal officer assignment, and verified resolution remarks.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28432" y="2651760"/>
            <a:ext cx="3429000" cy="219456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EF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 bIns="201168"/>
          <a:lstStyle/>
          <a:p>
            <a:pPr algn="ctr">
              <a:defRPr sz="1300" b="1">
                <a:solidFill>
                  <a:srgbClr val="F59E0B"/>
                </a:solidFill>
                <a:latin typeface="Plus Jakarta Sans"/>
              </a:defRPr>
            </a:pPr>
            <a:r>
              <a:t>City Governance Console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Plus Jakarta Sans"/>
              </a:defRPr>
            </a:pPr>
            <a:r>
              <a:t>Real-time municipal performance KPIs, Chart.js resolution load charts, configurable SLA policies, user roles, and 1-click audit CSV export.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029200"/>
            <a:ext cx="196596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950" b="1">
                <a:solidFill>
                  <a:srgbClr val="059669"/>
                </a:solidFill>
                <a:latin typeface="Plus Jakarta Sans"/>
              </a:defRPr>
            </a:pPr>
            <a:r>
              <a:t>✔ GPS Map Picker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16936" y="5029200"/>
            <a:ext cx="196596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950" b="1">
                <a:solidFill>
                  <a:srgbClr val="2563EB"/>
                </a:solidFill>
                <a:latin typeface="Plus Jakarta Sans"/>
              </a:defRPr>
            </a:pPr>
            <a:r>
              <a:t>✔ Auto SLA Routing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02352" y="5029200"/>
            <a:ext cx="196596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950" b="1">
                <a:solidFill>
                  <a:srgbClr val="F43F5E"/>
                </a:solidFill>
                <a:latin typeface="Plus Jakarta Sans"/>
              </a:defRPr>
            </a:pPr>
            <a:r>
              <a:t>✔ SFW Media Blur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87768" y="5029200"/>
            <a:ext cx="196596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950" b="1">
                <a:solidFill>
                  <a:srgbClr val="0F172A"/>
                </a:solidFill>
                <a:latin typeface="Plus Jakarta Sans"/>
              </a:defRPr>
            </a:pPr>
            <a:r>
              <a:t>✔ Dark/Light Mode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73184" y="5029200"/>
            <a:ext cx="196596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950" b="1">
                <a:solidFill>
                  <a:srgbClr val="F59E0B"/>
                </a:solidFill>
                <a:latin typeface="Plus Jakarta Sans"/>
              </a:defRPr>
            </a:pPr>
            <a:r>
              <a:t>✔ Live CSV Analytics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6400800"/>
            <a:ext cx="685800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50" b="1">
                <a:solidFill>
                  <a:srgbClr val="64748B"/>
                </a:solidFill>
                <a:latin typeface="Plus Jakarta Sans"/>
              </a:defRPr>
            </a:pPr>
            <a:r>
              <a:t>TEAM: 1. ABHIRAM RAJESH (1)   |   2. ABHISHEK S (2)   |   3. ADITH S KUMAR (3)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0" y="6400800"/>
            <a:ext cx="3687775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r">
              <a:defRPr sz="850" b="1">
                <a:solidFill>
                  <a:srgbClr val="059669"/>
                </a:solidFill>
                <a:latin typeface="Plus Jakarta Sans"/>
              </a:defRPr>
            </a:pPr>
            <a:r>
              <a:t>STACK: PHP 8 • MySQL • Leaflet.js • Chart.js • CSS3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20040"/>
            <a:ext cx="10728655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950" b="1">
                <a:solidFill>
                  <a:srgbClr val="64748B"/>
                </a:solidFill>
                <a:latin typeface="Plus Jakarta Sans"/>
              </a:defRPr>
            </a:pPr>
            <a:r>
              <a:t>WEB PROGRAMMING MICROPROJECT PRESENTATION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31375" y="274320"/>
            <a:ext cx="1828800" cy="347472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50" b="1">
                <a:solidFill>
                  <a:srgbClr val="059669"/>
                </a:solidFill>
                <a:latin typeface="Plus Jakarta Sans"/>
              </a:defRPr>
            </a:pPr>
            <a:r>
              <a:t>GROUP NO. 01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85800"/>
            <a:ext cx="10728655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650" b="1">
                <a:solidFill>
                  <a:srgbClr val="059669"/>
                </a:solidFill>
                <a:latin typeface="Plus Jakarta Sans"/>
              </a:rPr>
              <a:t>02  |  </a:t>
            </a:r>
            <a:r>
              <a:rPr sz="1650" b="1">
                <a:solidFill>
                  <a:srgbClr val="0F172A"/>
                </a:solidFill>
                <a:latin typeface="Plus Jakarta Sans"/>
              </a:rPr>
              <a:t>PROBLEM STATEMENT &amp; MOTIVATION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011680" cy="329184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Plus Jakarta Sans"/>
              </a:defRPr>
            </a:pPr>
            <a:r>
              <a:t>Why Is It Needed?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10512"/>
            <a:ext cx="2542032" cy="1920240"/>
          </a:xfrm>
          <a:prstGeom prst="roundRect">
            <a:avLst/>
          </a:prstGeom>
          <a:solidFill>
            <a:srgbClr val="FFF1F2"/>
          </a:solidFill>
          <a:ln w="1905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defRPr sz="1100" b="1">
                <a:solidFill>
                  <a:srgbClr val="F43F5E"/>
                </a:solidFill>
                <a:latin typeface="Plus Jakarta Sans"/>
              </a:defRPr>
            </a:pPr>
            <a:r>
              <a:t>Lack of Transparency &amp; Lost Complaints</a:t>
            </a:r>
          </a:p>
          <a:p>
            <a:pPr>
              <a:spcBef>
                <a:spcPts val="600"/>
              </a:spcBef>
              <a:defRPr sz="900">
                <a:solidFill>
                  <a:srgbClr val="0F172A"/>
                </a:solidFill>
                <a:latin typeface="Plus Jakarta Sans"/>
              </a:defRPr>
            </a:pPr>
            <a:r>
              <a:t>Traditional paper registers or phone calls offer zero status tracking. Citizens never know if an issue is being addressed or ignored.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810512"/>
            <a:ext cx="2542032" cy="192024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EF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defRPr sz="1100" b="1">
                <a:solidFill>
                  <a:srgbClr val="F59E0B"/>
                </a:solidFill>
                <a:latin typeface="Plus Jakarta Sans"/>
              </a:defRPr>
            </a:pPr>
            <a:r>
              <a:t>Slow Cross-Department Dispatching</a:t>
            </a:r>
          </a:p>
          <a:p>
            <a:pPr>
              <a:spcBef>
                <a:spcPts val="600"/>
              </a:spcBef>
              <a:defRPr sz="900">
                <a:solidFill>
                  <a:srgbClr val="0F172A"/>
                </a:solidFill>
                <a:latin typeface="Plus Jakarta Sans"/>
              </a:defRPr>
            </a:pPr>
            <a:r>
              <a:t>Municipal issues (PWD roads, water leaks, streetlight failures) require manual triage, resulting in weeks of departmental ping-pong.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810512"/>
            <a:ext cx="2542032" cy="19202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defRPr sz="1100" b="1">
                <a:solidFill>
                  <a:srgbClr val="2563EB"/>
                </a:solidFill>
                <a:latin typeface="Plus Jakarta Sans"/>
              </a:defRPr>
            </a:pPr>
            <a:r>
              <a:t>Inaccurate Location &amp; Vague Proof</a:t>
            </a:r>
          </a:p>
          <a:p>
            <a:pPr>
              <a:spcBef>
                <a:spcPts val="600"/>
              </a:spcBef>
              <a:defRPr sz="900">
                <a:solidFill>
                  <a:srgbClr val="0F172A"/>
                </a:solidFill>
                <a:latin typeface="Plus Jakarta Sans"/>
              </a:defRPr>
            </a:pPr>
            <a:r>
              <a:t>Field repair crews struggle to locate specific potholes or broken cables when complaints lack precise GPS coordinates and photos.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06256" y="1810512"/>
            <a:ext cx="2542032" cy="192024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defRPr sz="1100" b="1">
                <a:solidFill>
                  <a:srgbClr val="059669"/>
                </a:solidFill>
                <a:latin typeface="Plus Jakarta Sans"/>
              </a:defRPr>
            </a:pPr>
            <a:r>
              <a:t>No Accountability &amp; SLA Audits</a:t>
            </a:r>
          </a:p>
          <a:p>
            <a:pPr>
              <a:spcBef>
                <a:spcPts val="600"/>
              </a:spcBef>
              <a:defRPr sz="900">
                <a:solidFill>
                  <a:srgbClr val="0F172A"/>
                </a:solidFill>
                <a:latin typeface="Plus Jakarta Sans"/>
              </a:defRPr>
            </a:pPr>
            <a:r>
              <a:t>Municipal administrators lack aggregated metrics to evaluate department resolution speeds, backlog sizes, or SLA compliance.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77639"/>
            <a:ext cx="2011680" cy="329184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Plus Jakarta Sans"/>
              </a:defRPr>
            </a:pPr>
            <a:r>
              <a:t>Our Vision &amp; Solution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434840"/>
            <a:ext cx="10728655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60120" y="4572000"/>
            <a:ext cx="2423160" cy="1371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150" b="1">
                <a:solidFill>
                  <a:srgbClr val="059669"/>
                </a:solidFill>
                <a:latin typeface="Plus Jakarta Sans"/>
              </a:defRPr>
            </a:pPr>
            <a:r>
              <a:t>1. Geo-Tag &amp; Snap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  <a:latin typeface="Plus Jakarta Sans"/>
              </a:defRPr>
            </a:pPr>
            <a:r>
              <a:t>Citizen selects category, uploads photo evidence, and drops pinpoint on GPS map.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39312" y="4572000"/>
            <a:ext cx="2423160" cy="1371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150" b="1">
                <a:solidFill>
                  <a:srgbClr val="059669"/>
                </a:solidFill>
                <a:latin typeface="Plus Jakarta Sans"/>
              </a:defRPr>
            </a:pPr>
            <a:r>
              <a:t>2. SLA &amp; Auto-Routing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  <a:latin typeface="Plus Jakarta Sans"/>
              </a:defRPr>
            </a:pPr>
            <a:r>
              <a:t>System calculates SLA resolution deadline and dispatches directly to nodal department.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18504" y="4572000"/>
            <a:ext cx="2423160" cy="1371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150" b="1">
                <a:solidFill>
                  <a:srgbClr val="059669"/>
                </a:solidFill>
                <a:latin typeface="Plus Jakarta Sans"/>
              </a:defRPr>
            </a:pPr>
            <a:r>
              <a:t>3. Official Redressal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  <a:latin typeface="Plus Jakarta Sans"/>
              </a:defRPr>
            </a:pPr>
            <a:r>
              <a:t>Assigned field crew inspects site, resolves grievance, and logs resolution remarks.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97696" y="4572000"/>
            <a:ext cx="2423160" cy="1371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150" b="1">
                <a:solidFill>
                  <a:srgbClr val="059669"/>
                </a:solidFill>
                <a:latin typeface="Plus Jakarta Sans"/>
              </a:defRPr>
            </a:pPr>
            <a:r>
              <a:t>4. Verified Closure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  <a:latin typeface="Plus Jakarta Sans"/>
              </a:defRPr>
            </a:pPr>
            <a:r>
              <a:t>Citizen tracks live timeline, receives instant alert, and audits verified solution.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6400800"/>
            <a:ext cx="685800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50" b="1">
                <a:solidFill>
                  <a:srgbClr val="64748B"/>
                </a:solidFill>
                <a:latin typeface="Plus Jakarta Sans"/>
              </a:defRPr>
            </a:pPr>
            <a:r>
              <a:t>TEAM: 1. ABHIRAM RAJESH (1)   |   2. ABHISHEK S (2)   |   3. ADITH S KUMAR (3)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0" y="6400800"/>
            <a:ext cx="3687775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r">
              <a:defRPr sz="850" b="1">
                <a:solidFill>
                  <a:srgbClr val="059669"/>
                </a:solidFill>
                <a:latin typeface="Plus Jakarta Sans"/>
              </a:defRPr>
            </a:pPr>
            <a:r>
              <a:t>STACK: PHP 8 • MySQL • Leaflet.js • Chart.js • CSS3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20040"/>
            <a:ext cx="10728655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950" b="1">
                <a:solidFill>
                  <a:srgbClr val="64748B"/>
                </a:solidFill>
                <a:latin typeface="Plus Jakarta Sans"/>
              </a:defRPr>
            </a:pPr>
            <a:r>
              <a:t>WEB PROGRAMMING MICROPROJECT PRESENTATION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31375" y="274320"/>
            <a:ext cx="1828800" cy="347472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50" b="1">
                <a:solidFill>
                  <a:srgbClr val="059669"/>
                </a:solidFill>
                <a:latin typeface="Plus Jakarta Sans"/>
              </a:defRPr>
            </a:pPr>
            <a:r>
              <a:t>GROUP NO. 01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85800"/>
            <a:ext cx="10728655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650" b="1">
                <a:solidFill>
                  <a:srgbClr val="059669"/>
                </a:solidFill>
                <a:latin typeface="Plus Jakarta Sans"/>
              </a:rPr>
              <a:t>03  |  </a:t>
            </a:r>
            <a:r>
              <a:rPr sz="1650" b="1">
                <a:solidFill>
                  <a:srgbClr val="0F172A"/>
                </a:solidFill>
                <a:latin typeface="Plus Jakarta Sans"/>
              </a:rPr>
              <a:t>MULTI-ROLE SYSTEM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429000" cy="470916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 bIns="201168"/>
          <a:lstStyle/>
          <a:p>
            <a:pPr algn="ctr">
              <a:defRPr sz="1400" b="1">
                <a:solidFill>
                  <a:srgbClr val="059669"/>
                </a:solidFill>
                <a:latin typeface="Plus Jakarta Sans"/>
              </a:defRPr>
            </a:pPr>
            <a:r>
              <a:t>Citizen Portal</a:t>
            </a:r>
          </a:p>
          <a:p>
            <a:pPr>
              <a:spcBef>
                <a:spcPts val="200"/>
              </a:spcBef>
              <a:defRPr sz="950" b="1">
                <a:solidFill>
                  <a:srgbClr val="64748B"/>
                </a:solidFill>
                <a:latin typeface="Plus Jakarta Sans"/>
              </a:defRPr>
            </a:pPr>
            <a:r>
              <a:t>Empowering Public Voice</a:t>
            </a:r>
          </a:p>
          <a:p>
            <a:pPr>
              <a:spcBef>
                <a:spcPts val="800"/>
              </a:spcBef>
            </a:pPr>
            <a:r>
              <a:rPr sz="900" b="1">
                <a:solidFill>
                  <a:srgbClr val="0F172A"/>
                </a:solidFill>
                <a:latin typeface="Plus Jakarta Sans"/>
              </a:rPr>
              <a:t>• Interactive Leaflet.js Map Picker: </a:t>
            </a:r>
            <a:r>
              <a:rPr sz="850">
                <a:solidFill>
                  <a:srgbClr val="64748B"/>
                </a:solidFill>
                <a:latin typeface="Plus Jakarta Sans"/>
              </a:rPr>
              <a:t>Pinpoint exact issue coordinates with reverse geocoding.</a:t>
            </a:r>
          </a:p>
          <a:p>
            <a:pPr>
              <a:spcBef>
                <a:spcPts val="800"/>
              </a:spcBef>
            </a:pPr>
            <a:r>
              <a:rPr sz="900" b="1">
                <a:solidFill>
                  <a:srgbClr val="0F172A"/>
                </a:solidFill>
                <a:latin typeface="Plus Jakarta Sans"/>
              </a:rPr>
              <a:t>• 4-Step Issue Composer: </a:t>
            </a:r>
            <a:r>
              <a:rPr sz="850">
                <a:solidFill>
                  <a:srgbClr val="64748B"/>
                </a:solidFill>
                <a:latin typeface="Plus Jakarta Sans"/>
              </a:rPr>
              <a:t>Categorized selection with dynamic SLA estimation.</a:t>
            </a:r>
          </a:p>
          <a:p>
            <a:pPr>
              <a:spcBef>
                <a:spcPts val="800"/>
              </a:spcBef>
            </a:pPr>
            <a:r>
              <a:rPr sz="900" b="1">
                <a:solidFill>
                  <a:srgbClr val="0F172A"/>
                </a:solidFill>
                <a:latin typeface="Plus Jakarta Sans"/>
              </a:rPr>
              <a:t>• Photo Evidence Upload: </a:t>
            </a:r>
            <a:r>
              <a:rPr sz="850">
                <a:solidFill>
                  <a:srgbClr val="64748B"/>
                </a:solidFill>
                <a:latin typeface="Plus Jakarta Sans"/>
              </a:rPr>
              <a:t>Image preview and client-side validation.</a:t>
            </a:r>
          </a:p>
          <a:p>
            <a:pPr>
              <a:spcBef>
                <a:spcPts val="800"/>
              </a:spcBef>
            </a:pPr>
            <a:r>
              <a:rPr sz="900" b="1">
                <a:solidFill>
                  <a:srgbClr val="0F172A"/>
                </a:solidFill>
                <a:latin typeface="Plus Jakarta Sans"/>
              </a:rPr>
              <a:t>• Live Progress Timeline: </a:t>
            </a:r>
            <a:r>
              <a:rPr sz="850">
                <a:solidFill>
                  <a:srgbClr val="64748B"/>
                </a:solidFill>
                <a:latin typeface="Plus Jakarta Sans"/>
              </a:rPr>
              <a:t>Real-time audit trail with Pending/In Progress/Resolved states.</a:t>
            </a:r>
          </a:p>
          <a:p>
            <a:pPr>
              <a:spcBef>
                <a:spcPts val="800"/>
              </a:spcBef>
            </a:pPr>
            <a:r>
              <a:rPr sz="900" b="1">
                <a:solidFill>
                  <a:srgbClr val="0F172A"/>
                </a:solidFill>
                <a:latin typeface="Plus Jakarta Sans"/>
              </a:rPr>
              <a:t>• Personal Notification Stream: </a:t>
            </a:r>
            <a:r>
              <a:rPr sz="850">
                <a:solidFill>
                  <a:srgbClr val="64748B"/>
                </a:solidFill>
                <a:latin typeface="Plus Jakarta Sans"/>
              </a:rPr>
              <a:t>Instant updates when official remarks are posted.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9976" y="1371600"/>
            <a:ext cx="3429000" cy="470916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 bIns="201168"/>
          <a:lstStyle/>
          <a:p>
            <a:pPr algn="ctr">
              <a:defRPr sz="1400" b="1">
                <a:solidFill>
                  <a:srgbClr val="2563EB"/>
                </a:solidFill>
                <a:latin typeface="Plus Jakarta Sans"/>
              </a:defRPr>
            </a:pPr>
            <a:r>
              <a:t>Department Official Console</a:t>
            </a:r>
          </a:p>
          <a:p>
            <a:pPr>
              <a:spcBef>
                <a:spcPts val="200"/>
              </a:spcBef>
              <a:defRPr sz="950" b="1">
                <a:solidFill>
                  <a:srgbClr val="64748B"/>
                </a:solidFill>
                <a:latin typeface="Plus Jakarta Sans"/>
              </a:defRPr>
            </a:pPr>
            <a:r>
              <a:t>Streamlined Field Redressal</a:t>
            </a:r>
          </a:p>
          <a:p>
            <a:pPr>
              <a:spcBef>
                <a:spcPts val="800"/>
              </a:spcBef>
            </a:pPr>
            <a:r>
              <a:rPr sz="900" b="1">
                <a:solidFill>
                  <a:srgbClr val="0F172A"/>
                </a:solidFill>
                <a:latin typeface="Plus Jakarta Sans"/>
              </a:rPr>
              <a:t>• Targeted Department Queue: </a:t>
            </a:r>
            <a:r>
              <a:rPr sz="850">
                <a:solidFill>
                  <a:srgbClr val="64748B"/>
                </a:solidFill>
                <a:latin typeface="Plus Jakarta Sans"/>
              </a:rPr>
              <a:t>Filtered by assigned agency (PWD, SWM, Water, Electrical).</a:t>
            </a:r>
          </a:p>
          <a:p>
            <a:pPr>
              <a:spcBef>
                <a:spcPts val="800"/>
              </a:spcBef>
            </a:pPr>
            <a:r>
              <a:rPr sz="900" b="1">
                <a:solidFill>
                  <a:srgbClr val="0F172A"/>
                </a:solidFill>
                <a:latin typeface="Plus Jakarta Sans"/>
              </a:rPr>
              <a:t>• Urgent Priority Escalations: </a:t>
            </a:r>
            <a:r>
              <a:rPr sz="850">
                <a:solidFill>
                  <a:srgbClr val="64748B"/>
                </a:solidFill>
                <a:latin typeface="Plus Jakarta Sans"/>
              </a:rPr>
              <a:t>Highlighted cards for hazardous/emergency civic issues.</a:t>
            </a:r>
          </a:p>
          <a:p>
            <a:pPr>
              <a:spcBef>
                <a:spcPts val="800"/>
              </a:spcBef>
            </a:pPr>
            <a:r>
              <a:rPr sz="900" b="1">
                <a:solidFill>
                  <a:srgbClr val="0F172A"/>
                </a:solidFill>
                <a:latin typeface="Plus Jakarta Sans"/>
              </a:rPr>
              <a:t>• Nodal Staff Dispatch: </a:t>
            </a:r>
            <a:r>
              <a:rPr sz="850">
                <a:solidFill>
                  <a:srgbClr val="64748B"/>
                </a:solidFill>
                <a:latin typeface="Plus Jakarta Sans"/>
              </a:rPr>
              <a:t>Assign individual technicians and field workers.</a:t>
            </a:r>
          </a:p>
          <a:p>
            <a:pPr>
              <a:spcBef>
                <a:spcPts val="800"/>
              </a:spcBef>
            </a:pPr>
            <a:r>
              <a:rPr sz="900" b="1">
                <a:solidFill>
                  <a:srgbClr val="0F172A"/>
                </a:solidFill>
                <a:latin typeface="Plus Jakarta Sans"/>
              </a:rPr>
              <a:t>• Resolution Remark Engine: </a:t>
            </a:r>
            <a:r>
              <a:rPr sz="850">
                <a:solidFill>
                  <a:srgbClr val="64748B"/>
                </a:solidFill>
                <a:latin typeface="Plus Jakarta Sans"/>
              </a:rPr>
              <a:t>Submit verified resolution notes and timestamped proof.</a:t>
            </a:r>
          </a:p>
          <a:p>
            <a:pPr>
              <a:spcBef>
                <a:spcPts val="800"/>
              </a:spcBef>
            </a:pPr>
            <a:r>
              <a:rPr sz="900" b="1">
                <a:solidFill>
                  <a:srgbClr val="0F172A"/>
                </a:solidFill>
                <a:latin typeface="Plus Jakarta Sans"/>
              </a:rPr>
              <a:t>• Department Status Share: </a:t>
            </a:r>
            <a:r>
              <a:rPr sz="850">
                <a:solidFill>
                  <a:srgbClr val="64748B"/>
                </a:solidFill>
                <a:latin typeface="Plus Jakarta Sans"/>
              </a:rPr>
              <a:t>Live donut charts for resolution workload distribution.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28432" y="1371600"/>
            <a:ext cx="3429000" cy="470916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EF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 bIns="201168"/>
          <a:lstStyle/>
          <a:p>
            <a:pPr algn="ctr">
              <a:defRPr sz="1400" b="1">
                <a:solidFill>
                  <a:srgbClr val="F59E0B"/>
                </a:solidFill>
                <a:latin typeface="Plus Jakarta Sans"/>
              </a:defRPr>
            </a:pPr>
            <a:r>
              <a:t>Administrative Governance</a:t>
            </a:r>
          </a:p>
          <a:p>
            <a:pPr>
              <a:spcBef>
                <a:spcPts val="200"/>
              </a:spcBef>
              <a:defRPr sz="950" b="1">
                <a:solidFill>
                  <a:srgbClr val="64748B"/>
                </a:solidFill>
                <a:latin typeface="Plus Jakarta Sans"/>
              </a:defRPr>
            </a:pPr>
            <a:r>
              <a:t>Full Municipal Oversight</a:t>
            </a:r>
          </a:p>
          <a:p>
            <a:pPr>
              <a:spcBef>
                <a:spcPts val="800"/>
              </a:spcBef>
            </a:pPr>
            <a:r>
              <a:rPr sz="900" b="1">
                <a:solidFill>
                  <a:srgbClr val="0F172A"/>
                </a:solidFill>
                <a:latin typeface="Plus Jakarta Sans"/>
              </a:rPr>
              <a:t>• City-Wide Command Center: </a:t>
            </a:r>
            <a:r>
              <a:rPr sz="850">
                <a:solidFill>
                  <a:srgbClr val="64748B"/>
                </a:solidFill>
                <a:latin typeface="Plus Jakarta Sans"/>
              </a:rPr>
              <a:t>Executive KPIs on total complaints, rate &amp; departments.</a:t>
            </a:r>
          </a:p>
          <a:p>
            <a:pPr>
              <a:spcBef>
                <a:spcPts val="800"/>
              </a:spcBef>
            </a:pPr>
            <a:r>
              <a:rPr sz="900" b="1">
                <a:solidFill>
                  <a:srgbClr val="0F172A"/>
                </a:solidFill>
                <a:latin typeface="Plus Jakarta Sans"/>
              </a:rPr>
              <a:t>• User &amp; Role Management: </a:t>
            </a:r>
            <a:r>
              <a:rPr sz="850">
                <a:solidFill>
                  <a:srgbClr val="64748B"/>
                </a:solidFill>
                <a:latin typeface="Plus Jakarta Sans"/>
              </a:rPr>
              <a:t>Create official staff, manage citizens, and enforce access.</a:t>
            </a:r>
          </a:p>
          <a:p>
            <a:pPr>
              <a:spcBef>
                <a:spcPts val="800"/>
              </a:spcBef>
            </a:pPr>
            <a:r>
              <a:rPr sz="900" b="1">
                <a:solidFill>
                  <a:srgbClr val="0F172A"/>
                </a:solidFill>
                <a:latin typeface="Plus Jakarta Sans"/>
              </a:rPr>
              <a:t>• Department &amp; Category Hub: </a:t>
            </a:r>
            <a:r>
              <a:rPr sz="850">
                <a:solidFill>
                  <a:srgbClr val="64748B"/>
                </a:solidFill>
                <a:latin typeface="Plus Jakarta Sans"/>
              </a:rPr>
              <a:t>Configure routing codes, nodal heads, and SLA rules.</a:t>
            </a:r>
          </a:p>
          <a:p>
            <a:pPr>
              <a:spcBef>
                <a:spcPts val="800"/>
              </a:spcBef>
            </a:pPr>
            <a:r>
              <a:rPr sz="900" b="1">
                <a:solidFill>
                  <a:srgbClr val="0F172A"/>
                </a:solidFill>
                <a:latin typeface="Plus Jakarta Sans"/>
              </a:rPr>
              <a:t>• Dynamic Chart.js Analytics: </a:t>
            </a:r>
            <a:r>
              <a:rPr sz="850">
                <a:solidFill>
                  <a:srgbClr val="64748B"/>
                </a:solidFill>
                <a:latin typeface="Plus Jakarta Sans"/>
              </a:rPr>
              <a:t>Stacked resolution load charts across municipal units.</a:t>
            </a:r>
          </a:p>
          <a:p>
            <a:pPr>
              <a:spcBef>
                <a:spcPts val="800"/>
              </a:spcBef>
            </a:pPr>
            <a:r>
              <a:rPr sz="900" b="1">
                <a:solidFill>
                  <a:srgbClr val="0F172A"/>
                </a:solidFill>
                <a:latin typeface="Plus Jakarta Sans"/>
              </a:rPr>
              <a:t>• 1-Click CSV &amp; Print Exports: </a:t>
            </a:r>
            <a:r>
              <a:rPr sz="850">
                <a:solidFill>
                  <a:srgbClr val="64748B"/>
                </a:solidFill>
                <a:latin typeface="Plus Jakarta Sans"/>
              </a:rPr>
              <a:t>Full data dump for municipal auditing and council review.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6400800"/>
            <a:ext cx="685800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50" b="1">
                <a:solidFill>
                  <a:srgbClr val="64748B"/>
                </a:solidFill>
                <a:latin typeface="Plus Jakarta Sans"/>
              </a:defRPr>
            </a:pPr>
            <a:r>
              <a:t>TEAM: 1. ABHIRAM RAJESH (1)   |   2. ABHISHEK S (2)   |   3. ADITH S KUMAR (3)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0" y="6400800"/>
            <a:ext cx="3687775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r">
              <a:defRPr sz="850" b="1">
                <a:solidFill>
                  <a:srgbClr val="059669"/>
                </a:solidFill>
                <a:latin typeface="Plus Jakarta Sans"/>
              </a:defRPr>
            </a:pPr>
            <a:r>
              <a:t>STACK: PHP 8 • MySQL • Leaflet.js • Chart.js • CSS3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20040"/>
            <a:ext cx="10728655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950" b="1">
                <a:solidFill>
                  <a:srgbClr val="64748B"/>
                </a:solidFill>
                <a:latin typeface="Plus Jakarta Sans"/>
              </a:defRPr>
            </a:pPr>
            <a:r>
              <a:t>WEB PROGRAMMING MICROPROJECT PRESENTATION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31375" y="274320"/>
            <a:ext cx="1828800" cy="347472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50" b="1">
                <a:solidFill>
                  <a:srgbClr val="059669"/>
                </a:solidFill>
                <a:latin typeface="Plus Jakarta Sans"/>
              </a:defRPr>
            </a:pPr>
            <a:r>
              <a:t>GROUP NO. 01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85800"/>
            <a:ext cx="10728655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650" b="1">
                <a:solidFill>
                  <a:srgbClr val="059669"/>
                </a:solidFill>
                <a:latin typeface="Plus Jakarta Sans"/>
              </a:rPr>
              <a:t>04  |  </a:t>
            </a:r>
            <a:r>
              <a:rPr sz="1650" b="1">
                <a:solidFill>
                  <a:srgbClr val="0F172A"/>
                </a:solidFill>
                <a:latin typeface="Plus Jakarta Sans"/>
              </a:rPr>
              <a:t>TECHNOLOGY STACK &amp; UN SDG ALIGNMENT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542032" cy="187451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defRPr sz="1100" b="1">
                <a:solidFill>
                  <a:srgbClr val="059669"/>
                </a:solidFill>
                <a:latin typeface="Plus Jakarta Sans"/>
              </a:defRPr>
            </a:pPr>
            <a:r>
              <a:t>Frontend &amp; UI System</a:t>
            </a:r>
          </a:p>
          <a:p>
            <a:pPr>
              <a:spcBef>
                <a:spcPts val="600"/>
              </a:spcBef>
              <a:defRPr sz="850">
                <a:solidFill>
                  <a:srgbClr val="0F172A"/>
                </a:solidFill>
                <a:latin typeface="Plus Jakarta Sans"/>
              </a:defRPr>
            </a:pPr>
            <a:r>
              <a:t>HTML5 Semantic Layout</a:t>
            </a:r>
            <a:br/>
            <a:r>
              <a:t>Vanilla CSS3 Design Tokens</a:t>
            </a:r>
            <a:br/>
            <a:r>
              <a:t>Glassmorphism &amp; Responsive Grids</a:t>
            </a:r>
            <a:br/>
            <a:r>
              <a:t>Dark / Light / SFW Themes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6432" y="1371600"/>
            <a:ext cx="2542032" cy="187451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defRPr sz="1100" b="1">
                <a:solidFill>
                  <a:srgbClr val="2563EB"/>
                </a:solidFill>
                <a:latin typeface="Plus Jakarta Sans"/>
              </a:defRPr>
            </a:pPr>
            <a:r>
              <a:t>Maps &amp; Visual Analytics</a:t>
            </a:r>
          </a:p>
          <a:p>
            <a:pPr>
              <a:spcBef>
                <a:spcPts val="600"/>
              </a:spcBef>
              <a:defRPr sz="850">
                <a:solidFill>
                  <a:srgbClr val="0F172A"/>
                </a:solidFill>
                <a:latin typeface="Plus Jakarta Sans"/>
              </a:defRPr>
            </a:pPr>
            <a:r>
              <a:t>Leaflet.js Mapping Library</a:t>
            </a:r>
            <a:br/>
            <a:r>
              <a:t>OpenStreetMap Geodata Tiles</a:t>
            </a:r>
            <a:br/>
            <a:r>
              <a:t>Nominatim Reverse Geocoding</a:t>
            </a:r>
            <a:br/>
            <a:r>
              <a:t>Chart.js Responsive Charts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1344" y="1371600"/>
            <a:ext cx="2542032" cy="187451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defRPr sz="1100" b="1">
                <a:solidFill>
                  <a:srgbClr val="6366F1"/>
                </a:solidFill>
                <a:latin typeface="Plus Jakarta Sans"/>
              </a:defRPr>
            </a:pPr>
            <a:r>
              <a:t>Backend &amp; Business Logic</a:t>
            </a:r>
          </a:p>
          <a:p>
            <a:pPr>
              <a:spcBef>
                <a:spcPts val="600"/>
              </a:spcBef>
              <a:defRPr sz="850">
                <a:solidFill>
                  <a:srgbClr val="0F172A"/>
                </a:solidFill>
                <a:latin typeface="Plus Jakarta Sans"/>
              </a:defRPr>
            </a:pPr>
            <a:r>
              <a:t>PHP 8 Modular Routing</a:t>
            </a:r>
            <a:br/>
            <a:r>
              <a:t>PDO Database Abstraction</a:t>
            </a:r>
            <a:br/>
            <a:r>
              <a:t>CSRF Token Security</a:t>
            </a:r>
            <a:br/>
            <a:r>
              <a:t>Session RBAC Authentication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06256" y="1371600"/>
            <a:ext cx="2542032" cy="187451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defRPr sz="1100" b="1">
                <a:solidFill>
                  <a:srgbClr val="F59E0B"/>
                </a:solidFill>
                <a:latin typeface="Plus Jakarta Sans"/>
              </a:defRPr>
            </a:pPr>
            <a:r>
              <a:t>Relational Database</a:t>
            </a:r>
          </a:p>
          <a:p>
            <a:pPr>
              <a:spcBef>
                <a:spcPts val="600"/>
              </a:spcBef>
              <a:defRPr sz="850">
                <a:solidFill>
                  <a:srgbClr val="0F172A"/>
                </a:solidFill>
                <a:latin typeface="Plus Jakarta Sans"/>
              </a:defRPr>
            </a:pPr>
            <a:r>
              <a:t>MySQL / MariaDB</a:t>
            </a:r>
            <a:br/>
            <a:r>
              <a:t>Normalized Schema (3NF)</a:t>
            </a:r>
            <a:br/>
            <a:r>
              <a:t>Foreign Key Constraints</a:t>
            </a:r>
            <a:br/>
            <a:r>
              <a:t>Indexed Complaint Queries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456432"/>
            <a:ext cx="10728655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172A"/>
                </a:solidFill>
                <a:latin typeface="Plus Jakarta Sans"/>
              </a:defRPr>
            </a:pPr>
            <a:r>
              <a:t>UNITED NATIONS SUSTAINABLE DEVELOPMENT GOALS (SDG MAPPING)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86200"/>
            <a:ext cx="2542032" cy="219456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99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defRPr sz="1100" b="1">
                <a:solidFill>
                  <a:srgbClr val="F99D26"/>
                </a:solidFill>
                <a:latin typeface="Plus Jakarta Sans"/>
              </a:defRPr>
            </a:pPr>
            <a:r>
              <a:t>SDG 11: Sustainable Cities</a:t>
            </a:r>
          </a:p>
          <a:p>
            <a:pPr>
              <a:spcBef>
                <a:spcPts val="600"/>
              </a:spcBef>
              <a:defRPr sz="850">
                <a:solidFill>
                  <a:srgbClr val="0F172A"/>
                </a:solidFill>
                <a:latin typeface="Plus Jakarta Sans"/>
              </a:defRPr>
            </a:pPr>
            <a:r>
              <a:t>Fosters clean, resilient, and inclusive urban habitats by accelerating municipal repairs of roads, streetlights, and drainage systems.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6432" y="3886200"/>
            <a:ext cx="2542032" cy="219456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0068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defRPr sz="1100" b="1">
                <a:solidFill>
                  <a:srgbClr val="00689D"/>
                </a:solidFill>
                <a:latin typeface="Plus Jakarta Sans"/>
              </a:defRPr>
            </a:pPr>
            <a:r>
              <a:t>SDG 16: Strong Institutions</a:t>
            </a:r>
          </a:p>
          <a:p>
            <a:pPr>
              <a:spcBef>
                <a:spcPts val="600"/>
              </a:spcBef>
              <a:defRPr sz="850">
                <a:solidFill>
                  <a:srgbClr val="0F172A"/>
                </a:solidFill>
                <a:latin typeface="Plus Jakarta Sans"/>
              </a:defRPr>
            </a:pPr>
            <a:r>
              <a:t>Enhances transparent and accountable public governance with real-time audit logs, public resolution proof, and citizen tracking.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3886200"/>
            <a:ext cx="2542032" cy="2194560"/>
          </a:xfrm>
          <a:prstGeom prst="roundRect">
            <a:avLst/>
          </a:prstGeom>
          <a:solidFill>
            <a:srgbClr val="FFF1F2"/>
          </a:solidFill>
          <a:ln w="19050">
            <a:solidFill>
              <a:srgbClr val="EB4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defRPr sz="1100" b="1">
                <a:solidFill>
                  <a:srgbClr val="EB4430"/>
                </a:solidFill>
                <a:latin typeface="Plus Jakarta Sans"/>
              </a:defRPr>
            </a:pPr>
            <a:r>
              <a:t>SDG 9: Resilient Infrastructure</a:t>
            </a:r>
          </a:p>
          <a:p>
            <a:pPr>
              <a:spcBef>
                <a:spcPts val="600"/>
              </a:spcBef>
              <a:defRPr sz="850">
                <a:solidFill>
                  <a:srgbClr val="0F172A"/>
                </a:solidFill>
                <a:latin typeface="Plus Jakarta Sans"/>
              </a:defRPr>
            </a:pPr>
            <a:r>
              <a:t>Upgrades municipal service delivery through digital issue logging, automated department dispatch, and spatial hotspot mapping.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06256" y="3886200"/>
            <a:ext cx="2542032" cy="219456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2C9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defRPr sz="1100" b="1">
                <a:solidFill>
                  <a:srgbClr val="2C9B40"/>
                </a:solidFill>
                <a:latin typeface="Plus Jakarta Sans"/>
              </a:defRPr>
            </a:pPr>
            <a:r>
              <a:t>SDG 3: Health &amp; Well-being</a:t>
            </a:r>
          </a:p>
          <a:p>
            <a:pPr>
              <a:spcBef>
                <a:spcPts val="600"/>
              </a:spcBef>
              <a:defRPr sz="850">
                <a:solidFill>
                  <a:srgbClr val="0F172A"/>
                </a:solidFill>
                <a:latin typeface="Plus Jakarta Sans"/>
              </a:defRPr>
            </a:pPr>
            <a:r>
              <a:t>Eliminates environmental health hazards such as stagnant garbage dumps, sewage leaks, and mosquito breeding zones.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6400800"/>
            <a:ext cx="685800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50" b="1">
                <a:solidFill>
                  <a:srgbClr val="64748B"/>
                </a:solidFill>
                <a:latin typeface="Plus Jakarta Sans"/>
              </a:defRPr>
            </a:pPr>
            <a:r>
              <a:t>TEAM: 1. ABHIRAM RAJESH (1)   |   2. ABHISHEK S (2)   |   3. ADITH S KUMAR (3)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0" y="6400800"/>
            <a:ext cx="3687775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r">
              <a:defRPr sz="850" b="1">
                <a:solidFill>
                  <a:srgbClr val="059669"/>
                </a:solidFill>
                <a:latin typeface="Plus Jakarta Sans"/>
              </a:defRPr>
            </a:pPr>
            <a:r>
              <a:t>STACK: PHP 8 • MySQL • Leaflet.js • Chart.js • CSS3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20040"/>
            <a:ext cx="10728655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950" b="1">
                <a:solidFill>
                  <a:srgbClr val="64748B"/>
                </a:solidFill>
                <a:latin typeface="Plus Jakarta Sans"/>
              </a:defRPr>
            </a:pPr>
            <a:r>
              <a:t>WEB PROGRAMMING MICROPROJECT PRESENTATION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31375" y="274320"/>
            <a:ext cx="1828800" cy="347472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50" b="1">
                <a:solidFill>
                  <a:srgbClr val="059669"/>
                </a:solidFill>
                <a:latin typeface="Plus Jakarta Sans"/>
              </a:defRPr>
            </a:pPr>
            <a:r>
              <a:t>GROUP NO. 01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85800"/>
            <a:ext cx="10728655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650" b="1">
                <a:solidFill>
                  <a:srgbClr val="059669"/>
                </a:solidFill>
                <a:latin typeface="Plus Jakarta Sans"/>
              </a:rPr>
              <a:t>05  |  </a:t>
            </a:r>
            <a:r>
              <a:rPr sz="1650" b="1">
                <a:solidFill>
                  <a:srgbClr val="0F172A"/>
                </a:solidFill>
                <a:latin typeface="Plus Jakarta Sans"/>
              </a:rPr>
              <a:t>LIVE SYSTEM SHOWCASE: CITIZEN EXPERIENCE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230368" cy="48006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37160" bIns="137160"/>
          <a:lstStyle/>
          <a:p>
            <a:pPr algn="ctr">
              <a:defRPr sz="1150" b="1">
                <a:solidFill>
                  <a:srgbClr val="059669"/>
                </a:solidFill>
                <a:latin typeface="Plus Jakarta Sans"/>
              </a:defRPr>
            </a:pPr>
            <a:r>
              <a:t>1. Interactive Geo-Reporting &amp; SLA Estimation</a:t>
            </a:r>
          </a:p>
        </p:txBody>
      </p:sp>
      <p:pic>
        <p:nvPicPr>
          <p:cNvPr id="6" name="Picture 5" descr="04_citizen_report_iss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691640"/>
            <a:ext cx="4956048" cy="309067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68680" y="4864608"/>
            <a:ext cx="4956048" cy="1143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850">
                <a:solidFill>
                  <a:srgbClr val="0F172A"/>
                </a:solidFill>
                <a:latin typeface="Plus Jakarta Sans"/>
              </a:defRPr>
            </a:pPr>
            <a:r>
              <a:t>• Category Selection: 10 structured civic domains with dynamic SLA targets.</a:t>
            </a:r>
          </a:p>
          <a:p>
            <a:pPr>
              <a:defRPr sz="850">
                <a:solidFill>
                  <a:srgbClr val="64748B"/>
                </a:solidFill>
                <a:latin typeface="Plus Jakarta Sans"/>
              </a:defRPr>
            </a:pPr>
            <a:r>
              <a:t>• Interactive Map Pinpoint: Leaflet.js with browser GPS auto-detection.</a:t>
            </a:r>
          </a:p>
          <a:p>
            <a:pPr>
              <a:defRPr sz="850">
                <a:solidFill>
                  <a:srgbClr val="64748B"/>
                </a:solidFill>
                <a:latin typeface="Plus Jakarta Sans"/>
              </a:defRPr>
            </a:pPr>
            <a:r>
              <a:t>• Evidence Validation: Ground photo upload with instant client preview.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27064" y="1325880"/>
            <a:ext cx="5230368" cy="48006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37160" bIns="137160"/>
          <a:lstStyle/>
          <a:p>
            <a:pPr algn="ctr">
              <a:defRPr sz="1150" b="1">
                <a:solidFill>
                  <a:srgbClr val="2563EB"/>
                </a:solidFill>
                <a:latin typeface="Plus Jakarta Sans"/>
              </a:defRPr>
            </a:pPr>
            <a:r>
              <a:t>2. Live Resolution Lifecycle &amp; Progress Timeline</a:t>
            </a:r>
          </a:p>
        </p:txBody>
      </p:sp>
      <p:pic>
        <p:nvPicPr>
          <p:cNvPr id="9" name="Picture 8" descr="05_citizen_complaint_tim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224" y="1691640"/>
            <a:ext cx="4956048" cy="309067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364224" y="4864608"/>
            <a:ext cx="4956048" cy="1143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850">
                <a:solidFill>
                  <a:srgbClr val="0F172A"/>
                </a:solidFill>
                <a:latin typeface="Plus Jakarta Sans"/>
              </a:defRPr>
            </a:pPr>
            <a:r>
              <a:t>• 4-Stage Lifecycle: Registered → Assigned → In Progress → Resolved.</a:t>
            </a:r>
          </a:p>
          <a:p>
            <a:pPr>
              <a:defRPr sz="850">
                <a:solidFill>
                  <a:srgbClr val="64748B"/>
                </a:solidFill>
                <a:latin typeface="Plus Jakarta Sans"/>
              </a:defRPr>
            </a:pPr>
            <a:r>
              <a:t>• Department Attribution: Clear display of nodal officer &amp; SLA deadline.</a:t>
            </a:r>
          </a:p>
          <a:p>
            <a:pPr>
              <a:defRPr sz="850">
                <a:solidFill>
                  <a:srgbClr val="64748B"/>
                </a:solidFill>
                <a:latin typeface="Plus Jakarta Sans"/>
              </a:defRPr>
            </a:pPr>
            <a:r>
              <a:t>• Status Trail: Immutable chronological logs with official resolution notes.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6400800"/>
            <a:ext cx="685800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50" b="1">
                <a:solidFill>
                  <a:srgbClr val="64748B"/>
                </a:solidFill>
                <a:latin typeface="Plus Jakarta Sans"/>
              </a:defRPr>
            </a:pPr>
            <a:r>
              <a:t>TEAM: 1. ABHIRAM RAJESH (1)   |   2. ABHISHEK S (2)   |   3. ADITH S KUMAR (3)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6400800"/>
            <a:ext cx="3687775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r">
              <a:defRPr sz="850" b="1">
                <a:solidFill>
                  <a:srgbClr val="059669"/>
                </a:solidFill>
                <a:latin typeface="Plus Jakarta Sans"/>
              </a:defRPr>
            </a:pPr>
            <a:r>
              <a:t>STACK: PHP 8 • MySQL • Leaflet.js • Chart.js • CSS3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20040"/>
            <a:ext cx="10728655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950" b="1">
                <a:solidFill>
                  <a:srgbClr val="64748B"/>
                </a:solidFill>
                <a:latin typeface="Plus Jakarta Sans"/>
              </a:defRPr>
            </a:pPr>
            <a:r>
              <a:t>WEB PROGRAMMING MICROPROJECT PRESENTATION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31375" y="274320"/>
            <a:ext cx="1828800" cy="347472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50" b="1">
                <a:solidFill>
                  <a:srgbClr val="059669"/>
                </a:solidFill>
                <a:latin typeface="Plus Jakarta Sans"/>
              </a:defRPr>
            </a:pPr>
            <a:r>
              <a:t>GROUP NO. 01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85800"/>
            <a:ext cx="10728655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650" b="1">
                <a:solidFill>
                  <a:srgbClr val="059669"/>
                </a:solidFill>
                <a:latin typeface="Plus Jakarta Sans"/>
              </a:rPr>
              <a:t>06  |  </a:t>
            </a:r>
            <a:r>
              <a:rPr sz="1650" b="1">
                <a:solidFill>
                  <a:srgbClr val="0F172A"/>
                </a:solidFill>
                <a:latin typeface="Plus Jakarta Sans"/>
              </a:rPr>
              <a:t>LIVE SYSTEM SHOWCASE: DEPARTMENT OFFICIAL CONSOLE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230368" cy="48006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37160" bIns="137160"/>
          <a:lstStyle/>
          <a:p>
            <a:pPr algn="ctr">
              <a:defRPr sz="1150" b="1">
                <a:solidFill>
                  <a:srgbClr val="2563EB"/>
                </a:solidFill>
                <a:latin typeface="Plus Jakarta Sans"/>
              </a:defRPr>
            </a:pPr>
            <a:r>
              <a:t>1. Department Workspace &amp; Priority Alert Center</a:t>
            </a:r>
          </a:p>
        </p:txBody>
      </p:sp>
      <p:pic>
        <p:nvPicPr>
          <p:cNvPr id="6" name="Picture 5" descr="07_official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691640"/>
            <a:ext cx="4956048" cy="309067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68680" y="4864608"/>
            <a:ext cx="4956048" cy="1143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850">
                <a:solidFill>
                  <a:srgbClr val="0F172A"/>
                </a:solidFill>
                <a:latin typeface="Plus Jakarta Sans"/>
              </a:defRPr>
            </a:pPr>
            <a:r>
              <a:t>• Live Department Counters: Active, pending action, and resolved counts.</a:t>
            </a:r>
          </a:p>
          <a:p>
            <a:pPr>
              <a:defRPr sz="850">
                <a:solidFill>
                  <a:srgbClr val="64748B"/>
                </a:solidFill>
                <a:latin typeface="Plus Jakarta Sans"/>
              </a:defRPr>
            </a:pPr>
            <a:r>
              <a:t>• Urgent Priority Escalation: Highlighted red alert banner for hazards.</a:t>
            </a:r>
          </a:p>
          <a:p>
            <a:pPr>
              <a:defRPr sz="850">
                <a:solidFill>
                  <a:srgbClr val="64748B"/>
                </a:solidFill>
                <a:latin typeface="Plus Jakarta Sans"/>
              </a:defRPr>
            </a:pPr>
            <a:r>
              <a:t>• Workload Donut Chart: Dynamic real-time status distribution breakdown.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27064" y="1325880"/>
            <a:ext cx="5230368" cy="48006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37160" bIns="137160"/>
          <a:lstStyle/>
          <a:p>
            <a:pPr algn="ctr">
              <a:defRPr sz="1150" b="1">
                <a:solidFill>
                  <a:srgbClr val="059669"/>
                </a:solidFill>
                <a:latin typeface="Plus Jakarta Sans"/>
              </a:defRPr>
            </a:pPr>
            <a:r>
              <a:t>2. Department Grievance Queue &amp; Action Engine</a:t>
            </a:r>
          </a:p>
        </p:txBody>
      </p:sp>
      <p:pic>
        <p:nvPicPr>
          <p:cNvPr id="9" name="Picture 8" descr="08_official_que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224" y="1691640"/>
            <a:ext cx="4956048" cy="309067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364224" y="4864608"/>
            <a:ext cx="4956048" cy="1143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850">
                <a:solidFill>
                  <a:srgbClr val="0F172A"/>
                </a:solidFill>
                <a:latin typeface="Plus Jakarta Sans"/>
              </a:defRPr>
            </a:pPr>
            <a:r>
              <a:t>• Filtered Work Queue: Agency isolation ensures PWD/SWM focus.</a:t>
            </a:r>
          </a:p>
          <a:p>
            <a:pPr>
              <a:defRPr sz="850">
                <a:solidFill>
                  <a:srgbClr val="64748B"/>
                </a:solidFill>
                <a:latin typeface="Plus Jakarta Sans"/>
              </a:defRPr>
            </a:pPr>
            <a:r>
              <a:t>• Rapid Redressal Dispatch: Assign field crews directly to specific sites.</a:t>
            </a:r>
          </a:p>
          <a:p>
            <a:pPr>
              <a:defRPr sz="850">
                <a:solidFill>
                  <a:srgbClr val="64748B"/>
                </a:solidFill>
                <a:latin typeface="Plus Jakarta Sans"/>
              </a:defRPr>
            </a:pPr>
            <a:r>
              <a:t>• Verification Remarks: Mandatory resolution logging before ticket closure.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6400800"/>
            <a:ext cx="685800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50" b="1">
                <a:solidFill>
                  <a:srgbClr val="64748B"/>
                </a:solidFill>
                <a:latin typeface="Plus Jakarta Sans"/>
              </a:defRPr>
            </a:pPr>
            <a:r>
              <a:t>TEAM: 1. ABHIRAM RAJESH (1)   |   2. ABHISHEK S (2)   |   3. ADITH S KUMAR (3)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6400800"/>
            <a:ext cx="3687775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r">
              <a:defRPr sz="850" b="1">
                <a:solidFill>
                  <a:srgbClr val="059669"/>
                </a:solidFill>
                <a:latin typeface="Plus Jakarta Sans"/>
              </a:defRPr>
            </a:pPr>
            <a:r>
              <a:t>STACK: PHP 8 • MySQL • Leaflet.js • Chart.js • CSS3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20040"/>
            <a:ext cx="10728655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950" b="1">
                <a:solidFill>
                  <a:srgbClr val="64748B"/>
                </a:solidFill>
                <a:latin typeface="Plus Jakarta Sans"/>
              </a:defRPr>
            </a:pPr>
            <a:r>
              <a:t>WEB PROGRAMMING MICROPROJECT PRESENTATION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31375" y="274320"/>
            <a:ext cx="1828800" cy="347472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50" b="1">
                <a:solidFill>
                  <a:srgbClr val="059669"/>
                </a:solidFill>
                <a:latin typeface="Plus Jakarta Sans"/>
              </a:defRPr>
            </a:pPr>
            <a:r>
              <a:t>GROUP NO. 01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85800"/>
            <a:ext cx="10728655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650" b="1">
                <a:solidFill>
                  <a:srgbClr val="059669"/>
                </a:solidFill>
                <a:latin typeface="Plus Jakarta Sans"/>
              </a:rPr>
              <a:t>07  |  </a:t>
            </a:r>
            <a:r>
              <a:rPr sz="1650" b="1">
                <a:solidFill>
                  <a:srgbClr val="0F172A"/>
                </a:solidFill>
                <a:latin typeface="Plus Jakarta Sans"/>
              </a:rPr>
              <a:t>LIVE SYSTEM SHOWCASE: CITY GOVERNANCE CONSOLE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230368" cy="480060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EF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37160" bIns="137160"/>
          <a:lstStyle/>
          <a:p>
            <a:pPr algn="ctr">
              <a:defRPr sz="1150" b="1">
                <a:solidFill>
                  <a:srgbClr val="F59E0B"/>
                </a:solidFill>
                <a:latin typeface="Plus Jakarta Sans"/>
              </a:defRPr>
            </a:pPr>
            <a:r>
              <a:t>1. City-Wide Command Center &amp; Load Distribution</a:t>
            </a:r>
          </a:p>
        </p:txBody>
      </p:sp>
      <p:pic>
        <p:nvPicPr>
          <p:cNvPr id="6" name="Picture 5" descr="10_admin_command_cen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691640"/>
            <a:ext cx="4956048" cy="309067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68680" y="4864608"/>
            <a:ext cx="4956048" cy="1143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850">
                <a:solidFill>
                  <a:srgbClr val="0F172A"/>
                </a:solidFill>
                <a:latin typeface="Plus Jakarta Sans"/>
              </a:defRPr>
            </a:pPr>
            <a:r>
              <a:t>• Executive Metrics: Total complaints, city resolution rate &amp; active units.</a:t>
            </a:r>
          </a:p>
          <a:p>
            <a:pPr>
              <a:defRPr sz="850">
                <a:solidFill>
                  <a:srgbClr val="64748B"/>
                </a:solidFill>
                <a:latin typeface="Plus Jakarta Sans"/>
              </a:defRPr>
            </a:pPr>
            <a:r>
              <a:t>• Chart.js Stacked Analytics: Department resolution vs backlog load.</a:t>
            </a:r>
          </a:p>
          <a:p>
            <a:pPr>
              <a:defRPr sz="850">
                <a:solidFill>
                  <a:srgbClr val="64748B"/>
                </a:solidFill>
                <a:latin typeface="Plus Jakarta Sans"/>
              </a:defRPr>
            </a:pPr>
            <a:r>
              <a:t>• User &amp; Role Management: Full control over official and citizen credentials.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27064" y="1325880"/>
            <a:ext cx="5230368" cy="4800600"/>
          </a:xfrm>
          <a:prstGeom prst="roundRect">
            <a:avLst/>
          </a:prstGeom>
          <a:solidFill>
            <a:srgbClr val="F5F3FF"/>
          </a:solidFill>
          <a:ln w="1905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37160" bIns="137160"/>
          <a:lstStyle/>
          <a:p>
            <a:pPr algn="ctr">
              <a:defRPr sz="1150" b="1">
                <a:solidFill>
                  <a:srgbClr val="7C3AED"/>
                </a:solidFill>
                <a:latin typeface="Plus Jakarta Sans"/>
              </a:defRPr>
            </a:pPr>
            <a:r>
              <a:t>2. Municipal Analytics &amp; 1-Click CSV Audit Reports</a:t>
            </a:r>
          </a:p>
        </p:txBody>
      </p:sp>
      <p:pic>
        <p:nvPicPr>
          <p:cNvPr id="9" name="Picture 8" descr="11_admin_repor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224" y="1691640"/>
            <a:ext cx="4956048" cy="309067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364224" y="4864608"/>
            <a:ext cx="4956048" cy="1143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850">
                <a:solidFill>
                  <a:srgbClr val="0F172A"/>
                </a:solidFill>
                <a:latin typeface="Plus Jakarta Sans"/>
              </a:defRPr>
            </a:pPr>
            <a:r>
              <a:t>• Department Scorecard: Real-time efficiency, backlog size &amp; speed.</a:t>
            </a:r>
          </a:p>
          <a:p>
            <a:pPr>
              <a:defRPr sz="850">
                <a:solidFill>
                  <a:srgbClr val="64748B"/>
                </a:solidFill>
                <a:latin typeface="Plus Jakarta Sans"/>
              </a:defRPr>
            </a:pPr>
            <a:r>
              <a:t>• 1-Click CSV Export: Download full dataset for municipal council audit.</a:t>
            </a:r>
          </a:p>
          <a:p>
            <a:pPr>
              <a:defRPr sz="850">
                <a:solidFill>
                  <a:srgbClr val="64748B"/>
                </a:solidFill>
                <a:latin typeface="Plus Jakarta Sans"/>
              </a:defRPr>
            </a:pPr>
            <a:r>
              <a:t>• SDG Impact Alignment: Direct tracking of UN SDG 11 &amp; SDG 16 goals.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6400800"/>
            <a:ext cx="685800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50" b="1">
                <a:solidFill>
                  <a:srgbClr val="64748B"/>
                </a:solidFill>
                <a:latin typeface="Plus Jakarta Sans"/>
              </a:defRPr>
            </a:pPr>
            <a:r>
              <a:t>TEAM: 1. ABHIRAM RAJESH (1)   |   2. ABHISHEK S (2)   |   3. ADITH S KUMAR (3)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6400800"/>
            <a:ext cx="3687775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r">
              <a:defRPr sz="850" b="1">
                <a:solidFill>
                  <a:srgbClr val="059669"/>
                </a:solidFill>
                <a:latin typeface="Plus Jakarta Sans"/>
              </a:defRPr>
            </a:pPr>
            <a:r>
              <a:t>STACK: PHP 8 • MySQL • Leaflet.js • Chart.js • CSS3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20040"/>
            <a:ext cx="10728655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950" b="1">
                <a:solidFill>
                  <a:srgbClr val="64748B"/>
                </a:solidFill>
                <a:latin typeface="Plus Jakarta Sans"/>
              </a:defRPr>
            </a:pPr>
            <a:r>
              <a:t>WEB PROGRAMMING MICROPROJECT PRESENTATION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31375" y="274320"/>
            <a:ext cx="1828800" cy="347472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50" b="1">
                <a:solidFill>
                  <a:srgbClr val="059669"/>
                </a:solidFill>
                <a:latin typeface="Plus Jakarta Sans"/>
              </a:defRPr>
            </a:pPr>
            <a:r>
              <a:t>GROUP NO. 01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85800"/>
            <a:ext cx="10728655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650" b="1">
                <a:solidFill>
                  <a:srgbClr val="059669"/>
                </a:solidFill>
                <a:latin typeface="Plus Jakarta Sans"/>
              </a:rPr>
              <a:t>08  |  </a:t>
            </a:r>
            <a:r>
              <a:rPr sz="1650" b="1">
                <a:solidFill>
                  <a:srgbClr val="0F172A"/>
                </a:solidFill>
                <a:latin typeface="Plus Jakarta Sans"/>
              </a:rPr>
              <a:t>PLATFORM INNOVATIONS &amp; UI/UX 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429000" cy="214884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defRPr sz="1100" b="1">
                <a:solidFill>
                  <a:srgbClr val="059669"/>
                </a:solidFill>
                <a:latin typeface="Plus Jakarta Sans"/>
              </a:defRPr>
            </a:pPr>
            <a:r>
              <a:t>3-Mode Dynamic Theme Switcher</a:t>
            </a:r>
          </a:p>
          <a:p>
            <a:pPr>
              <a:defRPr sz="850" b="1">
                <a:solidFill>
                  <a:srgbClr val="64748B"/>
                </a:solidFill>
                <a:latin typeface="Plus Jakarta Sans"/>
              </a:defRPr>
            </a:pPr>
            <a:r>
              <a:t>Dark, Light &amp; System Sync</a:t>
            </a:r>
          </a:p>
          <a:p>
            <a:pPr>
              <a:spcBef>
                <a:spcPts val="400"/>
              </a:spcBef>
              <a:defRPr sz="850">
                <a:solidFill>
                  <a:srgbClr val="0F172A"/>
                </a:solidFill>
                <a:latin typeface="Plus Jakarta Sans"/>
              </a:defRPr>
            </a:pPr>
            <a:r>
              <a:t>Pixel-perfect capsule switcher supporting instant live theme switching without page reload. High-contrast accessible dark palette ensures optimal readability for night-shift municipal officials and citizens alike.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9976" y="1371600"/>
            <a:ext cx="3429000" cy="2148840"/>
          </a:xfrm>
          <a:prstGeom prst="roundRect">
            <a:avLst/>
          </a:prstGeom>
          <a:solidFill>
            <a:srgbClr val="FFF1F2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defRPr sz="1100" b="1">
                <a:solidFill>
                  <a:srgbClr val="F43F5E"/>
                </a:solidFill>
                <a:latin typeface="Plus Jakarta Sans"/>
              </a:defRPr>
            </a:pPr>
            <a:r>
              <a:t>SFW Mode Media Protection</a:t>
            </a:r>
          </a:p>
          <a:p>
            <a:pPr>
              <a:defRPr sz="850" b="1">
                <a:solidFill>
                  <a:srgbClr val="64748B"/>
                </a:solidFill>
                <a:latin typeface="Plus Jakarta Sans"/>
              </a:defRPr>
            </a:pPr>
            <a:r>
              <a:t>Blur Sensitive Evidence</a:t>
            </a:r>
          </a:p>
          <a:p>
            <a:pPr>
              <a:spcBef>
                <a:spcPts val="400"/>
              </a:spcBef>
              <a:defRPr sz="850">
                <a:solidFill>
                  <a:srgbClr val="0F172A"/>
                </a:solidFill>
                <a:latin typeface="Plus Jakarta Sans"/>
              </a:defRPr>
            </a:pPr>
            <a:r>
              <a:t>First-of-its-kind civic privacy feature that applies real-time Gaussian blurs on sensitive photos (e.g. hazardous spills, accident scenes, dead animals) with one-click toggle to reveal on demand.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28432" y="1371600"/>
            <a:ext cx="3429000" cy="21488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defRPr sz="1100" b="1">
                <a:solidFill>
                  <a:srgbClr val="2563EB"/>
                </a:solidFill>
                <a:latin typeface="Plus Jakarta Sans"/>
              </a:defRPr>
            </a:pPr>
            <a:r>
              <a:t>Interactive Geolocation Pin-Drop</a:t>
            </a:r>
          </a:p>
          <a:p>
            <a:pPr>
              <a:defRPr sz="850" b="1">
                <a:solidFill>
                  <a:srgbClr val="64748B"/>
                </a:solidFill>
                <a:latin typeface="Plus Jakarta Sans"/>
              </a:defRPr>
            </a:pPr>
            <a:r>
              <a:t>OpenStreetMap &amp; GPS Hook</a:t>
            </a:r>
          </a:p>
          <a:p>
            <a:pPr>
              <a:spcBef>
                <a:spcPts val="400"/>
              </a:spcBef>
              <a:defRPr sz="850">
                <a:solidFill>
                  <a:srgbClr val="0F172A"/>
                </a:solidFill>
                <a:latin typeface="Plus Jakarta Sans"/>
              </a:defRPr>
            </a:pPr>
            <a:r>
              <a:t>Enables citizens to auto-detect location or manually position pins on responsive Leaflet maps with automatic reverse geocoding for precise municipal dispatch.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21608"/>
            <a:ext cx="3429000" cy="214884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defRPr sz="1100" b="1">
                <a:solidFill>
                  <a:srgbClr val="F59E0B"/>
                </a:solidFill>
                <a:latin typeface="Plus Jakarta Sans"/>
              </a:defRPr>
            </a:pPr>
            <a:r>
              <a:t>Dynamic SLA &amp; Auto-Routing Engine</a:t>
            </a:r>
          </a:p>
          <a:p>
            <a:pPr>
              <a:defRPr sz="850" b="1">
                <a:solidFill>
                  <a:srgbClr val="64748B"/>
                </a:solidFill>
                <a:latin typeface="Plus Jakarta Sans"/>
              </a:defRPr>
            </a:pPr>
            <a:r>
              <a:t>Automated Turnaround Rules</a:t>
            </a:r>
          </a:p>
          <a:p>
            <a:pPr>
              <a:spcBef>
                <a:spcPts val="400"/>
              </a:spcBef>
              <a:defRPr sz="850">
                <a:solidFill>
                  <a:srgbClr val="0F172A"/>
                </a:solidFill>
                <a:latin typeface="Plus Jakarta Sans"/>
              </a:defRPr>
            </a:pPr>
            <a:r>
              <a:t>Computes statutory resolution SLA targets dynamically upon category selection (e.g., 2 days for electrical sparks vs. 7 days for road paving) and routes straight to the nodal officer.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9976" y="3721608"/>
            <a:ext cx="3429000" cy="21488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defRPr sz="1100" b="1">
                <a:solidFill>
                  <a:srgbClr val="6366F1"/>
                </a:solidFill>
                <a:latin typeface="Plus Jakarta Sans"/>
              </a:defRPr>
            </a:pPr>
            <a:r>
              <a:t>Live Governance Analytics &amp; CSV</a:t>
            </a:r>
          </a:p>
          <a:p>
            <a:pPr>
              <a:defRPr sz="850" b="1">
                <a:solidFill>
                  <a:srgbClr val="64748B"/>
                </a:solidFill>
                <a:latin typeface="Plus Jakarta Sans"/>
              </a:defRPr>
            </a:pPr>
            <a:r>
              <a:t>Instant Audit Reporting</a:t>
            </a:r>
          </a:p>
          <a:p>
            <a:pPr>
              <a:spcBef>
                <a:spcPts val="400"/>
              </a:spcBef>
              <a:defRPr sz="850">
                <a:solidFill>
                  <a:srgbClr val="0F172A"/>
                </a:solidFill>
                <a:latin typeface="Plus Jakarta Sans"/>
              </a:defRPr>
            </a:pPr>
            <a:r>
              <a:t>Visual Chart.js department load distributions and instant 1-click CSV audit report generation with timestamps, coordinates, and resolution remarks.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28432" y="3721608"/>
            <a:ext cx="3429000" cy="214884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defRPr sz="1100" b="1">
                <a:solidFill>
                  <a:srgbClr val="0F172A"/>
                </a:solidFill>
                <a:latin typeface="Plus Jakarta Sans"/>
              </a:defRPr>
            </a:pPr>
            <a:r>
              <a:t>Secure Multi-Role Access Control</a:t>
            </a:r>
          </a:p>
          <a:p>
            <a:pPr>
              <a:defRPr sz="850" b="1">
                <a:solidFill>
                  <a:srgbClr val="64748B"/>
                </a:solidFill>
                <a:latin typeface="Plus Jakarta Sans"/>
              </a:defRPr>
            </a:pPr>
            <a:r>
              <a:t>BCrypt &amp; CSRF Protected</a:t>
            </a:r>
          </a:p>
          <a:p>
            <a:pPr>
              <a:spcBef>
                <a:spcPts val="400"/>
              </a:spcBef>
              <a:defRPr sz="850">
                <a:solidFill>
                  <a:srgbClr val="0F172A"/>
                </a:solidFill>
                <a:latin typeface="Plus Jakarta Sans"/>
              </a:defRPr>
            </a:pPr>
            <a:r>
              <a:t>Strict role segmentation ensuring citizens, department officers, and master administrators only access authorized views, secured by CSRF tokens and PDO parameterization.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6400800"/>
            <a:ext cx="685800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50" b="1">
                <a:solidFill>
                  <a:srgbClr val="64748B"/>
                </a:solidFill>
                <a:latin typeface="Plus Jakarta Sans"/>
              </a:defRPr>
            </a:pPr>
            <a:r>
              <a:t>TEAM: 1. ABHIRAM RAJESH (1)   |   2. ABHISHEK S (2)   |   3. ADITH S KUMAR (3)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6400800"/>
            <a:ext cx="3687775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r">
              <a:defRPr sz="850" b="1">
                <a:solidFill>
                  <a:srgbClr val="059669"/>
                </a:solidFill>
                <a:latin typeface="Plus Jakarta Sans"/>
              </a:defRPr>
            </a:pPr>
            <a:r>
              <a:t>STACK: PHP 8 • MySQL • Leaflet.js • Chart.js • CSS3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20040"/>
            <a:ext cx="10728655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950" b="1">
                <a:solidFill>
                  <a:srgbClr val="64748B"/>
                </a:solidFill>
                <a:latin typeface="Plus Jakarta Sans"/>
              </a:defRPr>
            </a:pPr>
            <a:r>
              <a:t>WEB PROGRAMMING MICROPROJECT PRESENTATION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31375" y="274320"/>
            <a:ext cx="1828800" cy="347472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50" b="1">
                <a:solidFill>
                  <a:srgbClr val="059669"/>
                </a:solidFill>
                <a:latin typeface="Plus Jakarta Sans"/>
              </a:defRPr>
            </a:pPr>
            <a:r>
              <a:t>GROUP NO. 01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85800"/>
            <a:ext cx="10728655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650" b="1">
                <a:solidFill>
                  <a:srgbClr val="059669"/>
                </a:solidFill>
                <a:latin typeface="Plus Jakarta Sans"/>
              </a:rPr>
              <a:t>09  |  </a:t>
            </a:r>
            <a:r>
              <a:rPr sz="1650" b="1">
                <a:solidFill>
                  <a:srgbClr val="0F172A"/>
                </a:solidFill>
                <a:latin typeface="Plus Jakarta Sans"/>
              </a:rPr>
              <a:t>SYSTEM &amp; DATABASE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429000" cy="292608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200" b="1">
                <a:solidFill>
                  <a:srgbClr val="059669"/>
                </a:solidFill>
                <a:latin typeface="Plus Jakarta Sans"/>
              </a:defRPr>
            </a:pPr>
            <a:r>
              <a:t>Presentation Layer (Client)</a:t>
            </a:r>
          </a:p>
          <a:p>
            <a:pPr>
              <a:spcBef>
                <a:spcPts val="200"/>
              </a:spcBef>
              <a:defRPr sz="900" b="1">
                <a:solidFill>
                  <a:srgbClr val="64748B"/>
                </a:solidFill>
                <a:latin typeface="Plus Jakarta Sans"/>
              </a:defRPr>
            </a:pPr>
            <a:r>
              <a:t>Browser UI / Frontend</a:t>
            </a:r>
          </a:p>
          <a:p>
            <a:pPr>
              <a:spcBef>
                <a:spcPts val="500"/>
              </a:spcBef>
              <a:defRPr sz="850">
                <a:solidFill>
                  <a:srgbClr val="0F172A"/>
                </a:solidFill>
                <a:latin typeface="Plus Jakarta Sans"/>
              </a:defRPr>
            </a:pPr>
            <a:r>
              <a:t>✔  Semantic HTML5 &amp; Vanilla CSS3 Design System</a:t>
            </a:r>
          </a:p>
          <a:p>
            <a:pPr>
              <a:spcBef>
                <a:spcPts val="500"/>
              </a:spcBef>
              <a:defRPr sz="850">
                <a:solidFill>
                  <a:srgbClr val="0F172A"/>
                </a:solidFill>
                <a:latin typeface="Plus Jakarta Sans"/>
              </a:defRPr>
            </a:pPr>
            <a:r>
              <a:t>✔  Leaflet.js Map Picker &amp; OpenStreetMap Tiles</a:t>
            </a:r>
          </a:p>
          <a:p>
            <a:pPr>
              <a:spcBef>
                <a:spcPts val="500"/>
              </a:spcBef>
              <a:defRPr sz="850">
                <a:solidFill>
                  <a:srgbClr val="0F172A"/>
                </a:solidFill>
                <a:latin typeface="Plus Jakarta Sans"/>
              </a:defRPr>
            </a:pPr>
            <a:r>
              <a:t>✔  Chart.js Dynamic Data Visualization</a:t>
            </a:r>
          </a:p>
          <a:p>
            <a:pPr>
              <a:spcBef>
                <a:spcPts val="500"/>
              </a:spcBef>
              <a:defRPr sz="850">
                <a:solidFill>
                  <a:srgbClr val="0F172A"/>
                </a:solidFill>
                <a:latin typeface="Plus Jakarta Sans"/>
              </a:defRPr>
            </a:pPr>
            <a:r>
              <a:t>✔  Responsive Drawer &amp; Dark/Light/SFW Mode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9976" y="1371600"/>
            <a:ext cx="3429000" cy="292608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200" b="1">
                <a:solidFill>
                  <a:srgbClr val="2563EB"/>
                </a:solidFill>
                <a:latin typeface="Plus Jakarta Sans"/>
              </a:defRPr>
            </a:pPr>
            <a:r>
              <a:t>Application Layer (Server)</a:t>
            </a:r>
          </a:p>
          <a:p>
            <a:pPr>
              <a:spcBef>
                <a:spcPts val="200"/>
              </a:spcBef>
              <a:defRPr sz="900" b="1">
                <a:solidFill>
                  <a:srgbClr val="64748B"/>
                </a:solidFill>
                <a:latin typeface="Plus Jakarta Sans"/>
              </a:defRPr>
            </a:pPr>
            <a:r>
              <a:t>PHP 8 Processing &amp; Security</a:t>
            </a:r>
          </a:p>
          <a:p>
            <a:pPr>
              <a:spcBef>
                <a:spcPts val="500"/>
              </a:spcBef>
              <a:defRPr sz="850">
                <a:solidFill>
                  <a:srgbClr val="0F172A"/>
                </a:solidFill>
                <a:latin typeface="Plus Jakarta Sans"/>
              </a:defRPr>
            </a:pPr>
            <a:r>
              <a:t>✔  Role-Based Access Control &amp; Session Management</a:t>
            </a:r>
          </a:p>
          <a:p>
            <a:pPr>
              <a:spcBef>
                <a:spcPts val="500"/>
              </a:spcBef>
              <a:defRPr sz="850">
                <a:solidFill>
                  <a:srgbClr val="0F172A"/>
                </a:solidFill>
                <a:latin typeface="Plus Jakarta Sans"/>
              </a:defRPr>
            </a:pPr>
            <a:r>
              <a:t>✔  CSRF Cryptographic Verification &amp; Input Sanitization</a:t>
            </a:r>
          </a:p>
          <a:p>
            <a:pPr>
              <a:spcBef>
                <a:spcPts val="500"/>
              </a:spcBef>
              <a:defRPr sz="850">
                <a:solidFill>
                  <a:srgbClr val="0F172A"/>
                </a:solidFill>
                <a:latin typeface="Plus Jakarta Sans"/>
              </a:defRPr>
            </a:pPr>
            <a:r>
              <a:t>✔  Automatic SLA Calculation &amp; Department Routing</a:t>
            </a:r>
          </a:p>
          <a:p>
            <a:pPr>
              <a:spcBef>
                <a:spcPts val="500"/>
              </a:spcBef>
              <a:defRPr sz="850">
                <a:solidFill>
                  <a:srgbClr val="0F172A"/>
                </a:solidFill>
                <a:latin typeface="Plus Jakarta Sans"/>
              </a:defRPr>
            </a:pPr>
            <a:r>
              <a:t>✔  File Upload Handler with Type &amp; Size Validation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28432" y="1371600"/>
            <a:ext cx="3429000" cy="292608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200" b="1">
                <a:solidFill>
                  <a:srgbClr val="F59E0B"/>
                </a:solidFill>
                <a:latin typeface="Plus Jakarta Sans"/>
              </a:defRPr>
            </a:pPr>
            <a:r>
              <a:t>Data Layer (Storage)</a:t>
            </a:r>
          </a:p>
          <a:p>
            <a:pPr>
              <a:spcBef>
                <a:spcPts val="200"/>
              </a:spcBef>
              <a:defRPr sz="900" b="1">
                <a:solidFill>
                  <a:srgbClr val="64748B"/>
                </a:solidFill>
                <a:latin typeface="Plus Jakarta Sans"/>
              </a:defRPr>
            </a:pPr>
            <a:r>
              <a:t>MySQL / MariaDB Relational</a:t>
            </a:r>
          </a:p>
          <a:p>
            <a:pPr>
              <a:spcBef>
                <a:spcPts val="500"/>
              </a:spcBef>
              <a:defRPr sz="850">
                <a:solidFill>
                  <a:srgbClr val="0F172A"/>
                </a:solidFill>
                <a:latin typeface="Plus Jakarta Sans"/>
              </a:defRPr>
            </a:pPr>
            <a:r>
              <a:t>✔  users: Citizens, Department Officials, Administrators</a:t>
            </a:r>
          </a:p>
          <a:p>
            <a:pPr>
              <a:spcBef>
                <a:spcPts val="500"/>
              </a:spcBef>
              <a:defRPr sz="850">
                <a:solidFill>
                  <a:srgbClr val="0F172A"/>
                </a:solidFill>
                <a:latin typeface="Plus Jakarta Sans"/>
              </a:defRPr>
            </a:pPr>
            <a:r>
              <a:t>✔  departments: Municipal units (PWD, SWM, Water, Elec)</a:t>
            </a:r>
          </a:p>
          <a:p>
            <a:pPr>
              <a:spcBef>
                <a:spcPts val="500"/>
              </a:spcBef>
              <a:defRPr sz="850">
                <a:solidFill>
                  <a:srgbClr val="0F172A"/>
                </a:solidFill>
                <a:latin typeface="Plus Jakarta Sans"/>
              </a:defRPr>
            </a:pPr>
            <a:r>
              <a:t>✔  categories: Issue taxonomy, SLAs &amp; department keys</a:t>
            </a:r>
          </a:p>
          <a:p>
            <a:pPr>
              <a:spcBef>
                <a:spcPts val="500"/>
              </a:spcBef>
              <a:defRPr sz="850">
                <a:solidFill>
                  <a:srgbClr val="0F172A"/>
                </a:solidFill>
                <a:latin typeface="Plus Jakarta Sans"/>
              </a:defRPr>
            </a:pPr>
            <a:r>
              <a:t>✔  complaints &amp; timeline: Normalized logs &amp; coordinates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26280"/>
            <a:ext cx="10728655" cy="160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100" b="1">
                <a:solidFill>
                  <a:srgbClr val="0F172A"/>
                </a:solidFill>
                <a:latin typeface="Plus Jakarta Sans"/>
              </a:defRPr>
            </a:pPr>
            <a:r>
              <a:t>DATABASE SCHEMA HIGHLIGHTS &amp; DATA INTEGRITY</a:t>
            </a:r>
          </a:p>
          <a:p>
            <a:pPr>
              <a:spcBef>
                <a:spcPts val="200"/>
              </a:spcBef>
              <a:defRPr sz="850">
                <a:solidFill>
                  <a:srgbClr val="64748B"/>
                </a:solidFill>
                <a:latin typeface="Plus Jakarta Sans"/>
              </a:defRPr>
            </a:pPr>
            <a:r>
              <a:t>• users Table: Stores user authentication, role ('citizen'/'official'/'admin'), and department assignments.</a:t>
            </a:r>
          </a:p>
          <a:p>
            <a:pPr>
              <a:spcBef>
                <a:spcPts val="200"/>
              </a:spcBef>
              <a:defRPr sz="850">
                <a:solidFill>
                  <a:srgbClr val="64748B"/>
                </a:solidFill>
                <a:latin typeface="Plus Jakarta Sans"/>
              </a:defRPr>
            </a:pPr>
            <a:r>
              <a:t>• complaints Table: Unique complaint_uid (e.g. CC-2026-0001), citizen_id, department_id, priority, status, latitude &amp; longitude.</a:t>
            </a:r>
          </a:p>
          <a:p>
            <a:pPr>
              <a:spcBef>
                <a:spcPts val="200"/>
              </a:spcBef>
              <a:defRPr sz="850">
                <a:solidFill>
                  <a:srgbClr val="64748B"/>
                </a:solidFill>
                <a:latin typeface="Plus Jakarta Sans"/>
              </a:defRPr>
            </a:pPr>
            <a:r>
              <a:t>• complaint_updates &amp; timeline Table: Immutable historical audit log recording state transitions, timestamps, and officer remarks.</a:t>
            </a:r>
          </a:p>
          <a:p>
            <a:pPr>
              <a:spcBef>
                <a:spcPts val="200"/>
              </a:spcBef>
              <a:defRPr sz="850">
                <a:solidFill>
                  <a:srgbClr val="64748B"/>
                </a:solidFill>
                <a:latin typeface="Plus Jakarta Sans"/>
              </a:defRPr>
            </a:pPr>
            <a:r>
              <a:t>• PDO Prepared Statements: Ensures 100% parameter separation to eliminate SQL Injection risks.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6400800"/>
            <a:ext cx="685800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50" b="1">
                <a:solidFill>
                  <a:srgbClr val="64748B"/>
                </a:solidFill>
                <a:latin typeface="Plus Jakarta Sans"/>
              </a:defRPr>
            </a:pPr>
            <a:r>
              <a:t>TEAM: 1. ABHIRAM RAJESH (1)   |   2. ABHISHEK S (2)   |   3. ADITH S KUMAR (3)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6400800"/>
            <a:ext cx="3687775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r">
              <a:defRPr sz="850" b="1">
                <a:solidFill>
                  <a:srgbClr val="059669"/>
                </a:solidFill>
                <a:latin typeface="Plus Jakarta Sans"/>
              </a:defRPr>
            </a:pPr>
            <a:r>
              <a:t>STACK: PHP 8 • MySQL • Leaflet.js • Chart.js • CSS3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20040"/>
            <a:ext cx="10728655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950" b="1">
                <a:solidFill>
                  <a:srgbClr val="64748B"/>
                </a:solidFill>
                <a:latin typeface="Plus Jakarta Sans"/>
              </a:defRPr>
            </a:pPr>
            <a:r>
              <a:t>WEB PROGRAMMING MICROPROJECT PRESENTATION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31375" y="274320"/>
            <a:ext cx="1828800" cy="347472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50" b="1">
                <a:solidFill>
                  <a:srgbClr val="059669"/>
                </a:solidFill>
                <a:latin typeface="Plus Jakarta Sans"/>
              </a:defRPr>
            </a:pPr>
            <a:r>
              <a:t>GROUP NO. 01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85800"/>
            <a:ext cx="10728655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650" b="1">
                <a:solidFill>
                  <a:srgbClr val="059669"/>
                </a:solidFill>
                <a:latin typeface="Plus Jakarta Sans"/>
              </a:rPr>
              <a:t>10  |  </a:t>
            </a:r>
            <a:r>
              <a:rPr sz="1650" b="1">
                <a:solidFill>
                  <a:srgbClr val="0F172A"/>
                </a:solidFill>
                <a:latin typeface="Plus Jakarta Sans"/>
              </a:rPr>
              <a:t>IMPACT, CONCLUSION &amp; FUTURE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233172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200" b="1">
                <a:solidFill>
                  <a:srgbClr val="059669"/>
                </a:solidFill>
                <a:latin typeface="Plus Jakarta Sans"/>
              </a:defRPr>
            </a:pPr>
            <a:r>
              <a:t>REAL-WORLD CIVIC IMPACT</a:t>
            </a:r>
          </a:p>
          <a:p>
            <a:pPr>
              <a:spcBef>
                <a:spcPts val="600"/>
              </a:spcBef>
            </a:pPr>
            <a:r>
              <a:rPr b="1" sz="900">
                <a:solidFill>
                  <a:srgbClr val="0F172A"/>
                </a:solidFill>
              </a:rPr>
              <a:t>✔ 70% Faster Turnaround: </a:t>
            </a:r>
            <a:r>
              <a:rPr sz="850">
                <a:solidFill>
                  <a:srgbClr val="64748B"/>
                </a:solidFill>
              </a:rPr>
              <a:t>Automated routing directly cuts manual paper triage delays.</a:t>
            </a:r>
          </a:p>
          <a:p>
            <a:pPr>
              <a:spcBef>
                <a:spcPts val="600"/>
              </a:spcBef>
            </a:pPr>
            <a:r>
              <a:rPr b="1" sz="900">
                <a:solidFill>
                  <a:srgbClr val="0F172A"/>
                </a:solidFill>
              </a:rPr>
              <a:t>✔ 100% Auditability: </a:t>
            </a:r>
            <a:r>
              <a:rPr sz="850">
                <a:solidFill>
                  <a:srgbClr val="64748B"/>
                </a:solidFill>
              </a:rPr>
              <a:t>Timestamps and GPS coordinates eliminate duplicate or lost complaints.</a:t>
            </a:r>
          </a:p>
          <a:p>
            <a:pPr>
              <a:spcBef>
                <a:spcPts val="600"/>
              </a:spcBef>
            </a:pPr>
            <a:r>
              <a:rPr b="1" sz="900">
                <a:solidFill>
                  <a:srgbClr val="0F172A"/>
                </a:solidFill>
              </a:rPr>
              <a:t>✔ Citizen Trust &amp; Inclusion: </a:t>
            </a:r>
            <a:r>
              <a:rPr sz="850">
                <a:solidFill>
                  <a:srgbClr val="64748B"/>
                </a:solidFill>
              </a:rPr>
              <a:t>Complete tracking transparency restores faith in local governance.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42255" cy="23317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200" b="1">
                <a:solidFill>
                  <a:srgbClr val="2563EB"/>
                </a:solidFill>
                <a:latin typeface="Plus Jakarta Sans"/>
              </a:defRPr>
            </a:pPr>
            <a:r>
              <a:t>PROJECT CONCLUSION</a:t>
            </a:r>
          </a:p>
          <a:p>
            <a:pPr>
              <a:spcBef>
                <a:spcPts val="600"/>
              </a:spcBef>
              <a:defRPr sz="900">
                <a:solidFill>
                  <a:srgbClr val="0F172A"/>
                </a:solidFill>
                <a:latin typeface="Plus Jakarta Sans"/>
              </a:defRPr>
            </a:pPr>
            <a:r>
              <a:t>CivicConnect successfully proves that modern full-stack web technologies can bridge the gap between citizens and municipal authorities. By integrating spatial GPS tagging, automated department SLA routing, role-based workflows, and real-time visual analytics, the platform establishes an accountable, responsive, and sustainable smart city ecosystem.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86200"/>
            <a:ext cx="10728655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200" b="1">
                <a:solidFill>
                  <a:srgbClr val="0F172A"/>
                </a:solidFill>
                <a:latin typeface="Plus Jakarta Sans"/>
              </a:defRPr>
            </a:pPr>
            <a:r>
              <a:t>FUTURE SCOPE &amp; PRODUCT ROADMAP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4343400"/>
            <a:ext cx="2423160" cy="16002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defRPr sz="950" b="1">
                <a:solidFill>
                  <a:srgbClr val="059669"/>
                </a:solidFill>
                <a:latin typeface="Plus Jakarta Sans"/>
              </a:defRPr>
            </a:pPr>
            <a:r>
              <a:t>AI Computer Vision Verification</a:t>
            </a:r>
          </a:p>
          <a:p>
            <a:pPr>
              <a:spcBef>
                <a:spcPts val="300"/>
              </a:spcBef>
              <a:defRPr sz="800">
                <a:solidFill>
                  <a:srgbClr val="0F172A"/>
                </a:solidFill>
                <a:latin typeface="Plus Jakarta Sans"/>
              </a:defRPr>
            </a:pPr>
            <a:r>
              <a:t>Automatic duplicate detection and severity estimation from uploaded pothole/garbage photos via Google Gemini / Vision models.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4343400"/>
            <a:ext cx="2423160" cy="16002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defRPr sz="950" b="1">
                <a:solidFill>
                  <a:srgbClr val="2563EB"/>
                </a:solidFill>
                <a:latin typeface="Plus Jakarta Sans"/>
              </a:defRPr>
            </a:pPr>
            <a:r>
              <a:t>WhatsApp &amp; SMS Webhook Bot</a:t>
            </a:r>
          </a:p>
          <a:p>
            <a:pPr>
              <a:spcBef>
                <a:spcPts val="300"/>
              </a:spcBef>
              <a:defRPr sz="800">
                <a:solidFill>
                  <a:srgbClr val="0F172A"/>
                </a:solidFill>
                <a:latin typeface="Plus Jakarta Sans"/>
              </a:defRPr>
            </a:pPr>
            <a:r>
              <a:t>Allow citizens to text complaints and photos via WhatsApp chatbot with zero app installation required.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4343400"/>
            <a:ext cx="2423160" cy="160020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defRPr sz="950" b="1">
                <a:solidFill>
                  <a:srgbClr val="F59E0B"/>
                </a:solidFill>
                <a:latin typeface="Plus Jakarta Sans"/>
              </a:defRPr>
            </a:pPr>
            <a:r>
              <a:t>Civic Karma Gamification</a:t>
            </a:r>
          </a:p>
          <a:p>
            <a:pPr>
              <a:spcBef>
                <a:spcPts val="300"/>
              </a:spcBef>
              <a:defRPr sz="800">
                <a:solidFill>
                  <a:srgbClr val="0F172A"/>
                </a:solidFill>
                <a:latin typeface="Plus Jakarta Sans"/>
              </a:defRPr>
            </a:pPr>
            <a:r>
              <a:t>Reward citizen contributions with civic points, community leaderboards, and municipal volunteer recognition badges.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15400" y="4343400"/>
            <a:ext cx="2423160" cy="16002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defRPr sz="950" b="1">
                <a:solidFill>
                  <a:srgbClr val="6366F1"/>
                </a:solidFill>
                <a:latin typeface="Plus Jakarta Sans"/>
              </a:defRPr>
            </a:pPr>
            <a:r>
              <a:t>Progressive Web App (PWA)</a:t>
            </a:r>
          </a:p>
          <a:p>
            <a:pPr>
              <a:spcBef>
                <a:spcPts val="300"/>
              </a:spcBef>
              <a:defRPr sz="800">
                <a:solidFill>
                  <a:srgbClr val="0F172A"/>
                </a:solidFill>
                <a:latin typeface="Plus Jakarta Sans"/>
              </a:defRPr>
            </a:pPr>
            <a:r>
              <a:t>Offline complaint caching, push notification alerts, and native mobile installability for field workers.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6400800"/>
            <a:ext cx="685800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50" b="1">
                <a:solidFill>
                  <a:srgbClr val="64748B"/>
                </a:solidFill>
                <a:latin typeface="Plus Jakarta Sans"/>
              </a:defRPr>
            </a:pPr>
            <a:r>
              <a:t>TEAM: 1. ABHIRAM RAJESH (1)   |   2. ABHISHEK S (2)   |   3. ADITH S KUMAR (3)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6400800"/>
            <a:ext cx="3687775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r">
              <a:defRPr sz="850" b="1">
                <a:solidFill>
                  <a:srgbClr val="059669"/>
                </a:solidFill>
                <a:latin typeface="Plus Jakarta Sans"/>
              </a:defRPr>
            </a:pPr>
            <a:r>
              <a:t>STACK: PHP 8 • MySQL • Leaflet.js • Chart.js • CSS3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